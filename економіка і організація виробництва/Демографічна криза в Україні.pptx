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3240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4000"/>
            <a:ext cx="12204000" cy="288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00000" y="1260000"/>
            <a:ext cx="2520000" cy="252000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152000"/>
            <a:ext cx="7920000" cy="115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FFFFFF"/>
                </a:solidFill>
                <a:latin typeface="Times New Roman"/>
              </a:rPr>
              <a:t>ДЕМОГРАФІЧНА КРИЗА В УКРАЇНІ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520000"/>
            <a:ext cx="792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100" b="0" i="1">
                <a:solidFill>
                  <a:srgbClr val="FFD100"/>
                </a:solidFill>
                <a:latin typeface="Times New Roman"/>
              </a:rPr>
              <a:t>Масштаби, причини та перспективи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3240000"/>
            <a:ext cx="1980000" cy="360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3384000"/>
            <a:ext cx="79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D6E8F5"/>
                </a:solidFill>
                <a:latin typeface="Times New Roman"/>
              </a:rPr>
              <a:t>Актуальні дані 2025 року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3888000"/>
            <a:ext cx="79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D6E8F5"/>
                </a:solidFill>
                <a:latin typeface="Times New Roman"/>
              </a:rPr>
              <a:t>Дисципліна: Економіка і організація виробництва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4284000"/>
            <a:ext cx="79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D6E8F5"/>
                </a:solidFill>
                <a:latin typeface="Times New Roman"/>
              </a:rPr>
              <a:t>2025 р.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1007999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7999"/>
            <a:ext cx="180000" cy="58500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25999"/>
            <a:ext cx="11160000" cy="75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500" b="1" i="0">
                <a:solidFill>
                  <a:srgbClr val="FFFFFF"/>
                </a:solidFill>
                <a:latin typeface="Times New Roman"/>
              </a:rPr>
              <a:t>ПЛАН ДОПОВІДІ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260000"/>
            <a:ext cx="10800000" cy="52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375E"/>
                </a:solidFill>
                <a:latin typeface="Times New Roman"/>
              </a:rPr>
              <a:t>▶  1.  Що таке демографічна криза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375E"/>
                </a:solidFill>
                <a:latin typeface="Times New Roman"/>
              </a:rPr>
              <a:t>▶  2.  Динаміка чисельності населення України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375E"/>
                </a:solidFill>
                <a:latin typeface="Times New Roman"/>
              </a:rPr>
              <a:t>▶  3.  Народжуваність та смертність у 2025 р.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375E"/>
                </a:solidFill>
                <a:latin typeface="Times New Roman"/>
              </a:rPr>
              <a:t>▶  4.  Еміграція та криза біженців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375E"/>
                </a:solidFill>
                <a:latin typeface="Times New Roman"/>
              </a:rPr>
              <a:t>▶  5.  Регіональні відмінності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375E"/>
                </a:solidFill>
                <a:latin typeface="Times New Roman"/>
              </a:rPr>
              <a:t>▶  6.  Старіння суспільства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375E"/>
                </a:solidFill>
                <a:latin typeface="Times New Roman"/>
              </a:rPr>
              <a:t>▶  7.  Економічні наслідки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375E"/>
                </a:solidFill>
                <a:latin typeface="Times New Roman"/>
              </a:rPr>
              <a:t>▶  8.  Заходи держави та прогнози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375E"/>
                </a:solidFill>
                <a:latin typeface="Times New Roman"/>
              </a:rPr>
              <a:t>▶  9.  Висновки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1007999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7999"/>
            <a:ext cx="180000" cy="5850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25999"/>
            <a:ext cx="11160000" cy="75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500" b="1" i="0">
                <a:solidFill>
                  <a:srgbClr val="FFFFFF"/>
                </a:solidFill>
                <a:latin typeface="Times New Roman"/>
              </a:rPr>
              <a:t>ЩО ТАКЕ ДЕМОГРАФІЧНА КРИЗА?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188000"/>
            <a:ext cx="1080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1A375E"/>
                </a:solidFill>
                <a:latin typeface="Times New Roman"/>
              </a:rPr>
              <a:t>Демографічна криза — стійке порушення відтворення населення, що виявляється у значному перевищенні смертності над народжуваністю, масовій еміграції та прискореному старінні нації.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340000"/>
            <a:ext cx="5220000" cy="37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500"/>
              </a:spcBef>
            </a:pPr>
            <a:r>
              <a:rPr sz="1500">
                <a:solidFill>
                  <a:srgbClr val="1A375E"/>
                </a:solidFill>
                <a:latin typeface="Times New Roman"/>
              </a:rPr>
              <a:t>▶  TFR &lt; 2,1 (рівень простого відтворення)</a:t>
            </a:r>
          </a:p>
          <a:p>
            <a:pPr algn="l">
              <a:spcBef>
                <a:spcPts val="500"/>
              </a:spcBef>
            </a:pPr>
            <a:r>
              <a:rPr sz="1500">
                <a:solidFill>
                  <a:srgbClr val="1A375E"/>
                </a:solidFill>
                <a:latin typeface="Times New Roman"/>
              </a:rPr>
              <a:t>▶  Природне скорочення населення</a:t>
            </a:r>
          </a:p>
          <a:p>
            <a:pPr algn="l">
              <a:spcBef>
                <a:spcPts val="500"/>
              </a:spcBef>
            </a:pPr>
            <a:r>
              <a:rPr sz="1500">
                <a:solidFill>
                  <a:srgbClr val="1A375E"/>
                </a:solidFill>
                <a:latin typeface="Times New Roman"/>
              </a:rPr>
              <a:t>▶  Масова трудова та вимушена еміграція</a:t>
            </a:r>
          </a:p>
          <a:p>
            <a:pPr algn="l">
              <a:spcBef>
                <a:spcPts val="500"/>
              </a:spcBef>
            </a:pPr>
            <a:r>
              <a:rPr sz="1500">
                <a:solidFill>
                  <a:srgbClr val="1A375E"/>
                </a:solidFill>
                <a:latin typeface="Times New Roman"/>
              </a:rPr>
              <a:t>▶  Прискорене старіння суспільства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0000" y="2340000"/>
            <a:ext cx="5220000" cy="37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500"/>
              </a:spcBef>
            </a:pPr>
            <a:r>
              <a:rPr sz="1500">
                <a:solidFill>
                  <a:srgbClr val="1A375E"/>
                </a:solidFill>
                <a:latin typeface="Times New Roman"/>
              </a:rPr>
              <a:t>▶  Криза почалась у 1991 р. після розпаду СРСР</a:t>
            </a:r>
          </a:p>
          <a:p>
            <a:pPr algn="l">
              <a:spcBef>
                <a:spcPts val="500"/>
              </a:spcBef>
            </a:pPr>
            <a:r>
              <a:rPr sz="1500">
                <a:solidFill>
                  <a:srgbClr val="1A375E"/>
                </a:solidFill>
                <a:latin typeface="Times New Roman"/>
              </a:rPr>
              <a:t>▶  Вторгнення 2022 р. перетворило кризу на катастрофу</a:t>
            </a:r>
          </a:p>
          <a:p>
            <a:pPr algn="l">
              <a:spcBef>
                <a:spcPts val="500"/>
              </a:spcBef>
            </a:pPr>
            <a:r>
              <a:rPr sz="1500">
                <a:solidFill>
                  <a:srgbClr val="1A375E"/>
                </a:solidFill>
                <a:latin typeface="Times New Roman"/>
              </a:rPr>
              <a:t>▶  TFR = 0,9 у 2024-25 рр. — найнижчий у світі</a:t>
            </a:r>
          </a:p>
          <a:p>
            <a:pPr algn="l">
              <a:spcBef>
                <a:spcPts val="500"/>
              </a:spcBef>
            </a:pPr>
            <a:r>
              <a:rPr sz="1500">
                <a:solidFill>
                  <a:srgbClr val="1A375E"/>
                </a:solidFill>
                <a:latin typeface="Times New Roman"/>
              </a:rPr>
              <a:t>▶  Втрата ~10 млн осіб з 2022 по 2025 рр.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0000" y="2340000"/>
            <a:ext cx="43200" cy="3780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1007999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7999"/>
            <a:ext cx="180000" cy="58500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25999"/>
            <a:ext cx="11160000" cy="75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500" b="1" i="0">
                <a:solidFill>
                  <a:srgbClr val="FFFFFF"/>
                </a:solidFill>
                <a:latin typeface="Times New Roman"/>
              </a:rPr>
              <a:t>ДИНАМІКА ЧИСЕЛЬНОСТІ НАСЕЛЕННЯ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188000"/>
            <a:ext cx="3456000" cy="2160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1260000"/>
            <a:ext cx="3311999" cy="97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D100"/>
                </a:solidFill>
                <a:latin typeface="Times New Roman"/>
              </a:rPr>
              <a:t>52 млн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2224800"/>
            <a:ext cx="3311999" cy="691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1991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2829600"/>
            <a:ext cx="3311999" cy="518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D6E8F5"/>
                </a:solidFill>
                <a:latin typeface="Times New Roman"/>
              </a:rPr>
              <a:t>незалежна Україна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4000" y="1188000"/>
            <a:ext cx="3456000" cy="2160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6000" y="1260000"/>
            <a:ext cx="3311999" cy="97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D100"/>
                </a:solidFill>
                <a:latin typeface="Times New Roman"/>
              </a:rPr>
              <a:t>46 млн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6000" y="2224800"/>
            <a:ext cx="3311999" cy="691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2013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6000" y="2829600"/>
            <a:ext cx="3311999" cy="518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D6E8F5"/>
                </a:solidFill>
                <a:latin typeface="Times New Roman"/>
              </a:rPr>
              <a:t>до початку конфлікту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08000" y="1188000"/>
            <a:ext cx="3456000" cy="2160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0000" y="1260000"/>
            <a:ext cx="3311999" cy="97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D100"/>
                </a:solidFill>
                <a:latin typeface="Times New Roman"/>
              </a:rPr>
              <a:t>41 млн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000" y="2224800"/>
            <a:ext cx="3311999" cy="691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2021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000" y="2829600"/>
            <a:ext cx="3311999" cy="518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D6E8F5"/>
                </a:solidFill>
                <a:latin typeface="Times New Roman"/>
              </a:rPr>
              <a:t>до вторгнення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3780000"/>
            <a:ext cx="3456000" cy="2160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000" y="3851999"/>
            <a:ext cx="3311999" cy="97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D100"/>
                </a:solidFill>
                <a:latin typeface="Times New Roman"/>
              </a:rPr>
              <a:t>34,5 млн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4816800"/>
            <a:ext cx="3311999" cy="691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2022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5421600"/>
            <a:ext cx="3311999" cy="518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D6E8F5"/>
                </a:solidFill>
                <a:latin typeface="Times New Roman"/>
              </a:rPr>
              <a:t>масова еміграція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84000" y="3780000"/>
            <a:ext cx="3456000" cy="2160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56000" y="3851999"/>
            <a:ext cx="3311999" cy="97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D100"/>
                </a:solidFill>
                <a:latin typeface="Times New Roman"/>
              </a:rPr>
              <a:t>33,3 млн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6000" y="4816800"/>
            <a:ext cx="3311999" cy="691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56000" y="5421600"/>
            <a:ext cx="3311999" cy="518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D6E8F5"/>
                </a:solidFill>
                <a:latin typeface="Times New Roman"/>
              </a:rPr>
              <a:t>дані МВФ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08000" y="3780000"/>
            <a:ext cx="3456000" cy="2160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0000" y="3851999"/>
            <a:ext cx="3311999" cy="97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C0392B"/>
                </a:solidFill>
                <a:latin typeface="Times New Roman"/>
              </a:rPr>
              <a:t>28-33 млн*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0000" y="4816800"/>
            <a:ext cx="3311999" cy="691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000" y="5421600"/>
            <a:ext cx="3311999" cy="518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D6E8F5"/>
                </a:solidFill>
                <a:latin typeface="Times New Roman"/>
              </a:rPr>
              <a:t>НАН / МВФ, оцінка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000" y="6372000"/>
            <a:ext cx="11520000" cy="39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1A375E"/>
                </a:solidFill>
                <a:latin typeface="Times New Roman"/>
              </a:rPr>
              <a:t>* Без урахування ТОТ. Джерела: МВФ (2025), НАН України (2025)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1007999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7999"/>
            <a:ext cx="180000" cy="585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25999"/>
            <a:ext cx="11160000" cy="75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500" b="1" i="0">
                <a:solidFill>
                  <a:srgbClr val="FFFFFF"/>
                </a:solidFill>
                <a:latin typeface="Times New Roman"/>
              </a:rPr>
              <a:t>НАРОДЖУВАНІСТЬ ТА СМЕРТНІСТЬ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152000"/>
            <a:ext cx="5040000" cy="1980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" y="1224000"/>
            <a:ext cx="4896000" cy="891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D100"/>
                </a:solidFill>
                <a:latin typeface="Times New Roman"/>
              </a:rPr>
              <a:t>168 778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" y="2102400"/>
            <a:ext cx="4896000" cy="633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Народжень у 2025 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" y="2656800"/>
            <a:ext cx="4896000" cy="47519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D6E8F5"/>
                </a:solidFill>
                <a:latin typeface="Times New Roman"/>
              </a:rPr>
              <a:t>-4,5% до 2024 р.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80000" y="1152000"/>
            <a:ext cx="5040000" cy="198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2000" y="1224000"/>
            <a:ext cx="4896000" cy="891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Times New Roman"/>
              </a:rPr>
              <a:t>485 296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2000" y="2102400"/>
            <a:ext cx="4896000" cy="633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Смертей у 2025 р.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2000" y="2656800"/>
            <a:ext cx="4896000" cy="47519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D6E8F5"/>
                </a:solidFill>
                <a:latin typeface="Times New Roman"/>
              </a:rPr>
              <a:t>-2,0% до 2024 р.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3420000"/>
            <a:ext cx="5040000" cy="1620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000" y="3491999"/>
            <a:ext cx="4896000" cy="729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D100"/>
                </a:solidFill>
                <a:latin typeface="Times New Roman"/>
              </a:rPr>
              <a:t>-316 518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000" y="4197600"/>
            <a:ext cx="4896000" cy="518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Природне скорочення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000" y="4651200"/>
            <a:ext cx="4896000" cy="388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D6E8F5"/>
                </a:solidFill>
                <a:latin typeface="Times New Roman"/>
              </a:rPr>
              <a:t>осіб за 2025 рік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80000" y="3420000"/>
            <a:ext cx="5040000" cy="1620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2000" y="3491999"/>
            <a:ext cx="4896000" cy="729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D100"/>
                </a:solidFill>
                <a:latin typeface="Times New Roman"/>
              </a:rPr>
              <a:t>0,9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2000" y="4197600"/>
            <a:ext cx="4896000" cy="518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TFR (дітей на жінку)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2000" y="4651200"/>
            <a:ext cx="4896000" cy="388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D6E8F5"/>
                </a:solidFill>
                <a:latin typeface="Times New Roman"/>
              </a:rPr>
              <a:t>рекордно низький у світі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5220000"/>
            <a:ext cx="1116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C0392B"/>
                </a:solidFill>
                <a:latin typeface="Times New Roman"/>
              </a:rPr>
              <a:t>Смертність перевищує народжуваність майже у 3 рази. У 2024 р. Україна посіла 1-ше місце у світі за найнижчою народжуваністю та найвищою смертністю. (Мін-юст України, 2026)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1007999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7999"/>
            <a:ext cx="180000" cy="58500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25999"/>
            <a:ext cx="11160000" cy="75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500" b="1" i="0">
                <a:solidFill>
                  <a:srgbClr val="FFFFFF"/>
                </a:solidFill>
                <a:latin typeface="Times New Roman"/>
              </a:rPr>
              <a:t>ЕМІГРАЦІЯ ТА КРИЗА БІЖЕНЦІВ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188000"/>
            <a:ext cx="3456000" cy="2160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1260000"/>
            <a:ext cx="3311999" cy="97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D100"/>
                </a:solidFill>
                <a:latin typeface="Times New Roman"/>
              </a:rPr>
              <a:t>6,9 млн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2224800"/>
            <a:ext cx="3311999" cy="691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Біженців зареєстровано (ООН)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2829600"/>
            <a:ext cx="3311999" cy="518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D6E8F5"/>
                </a:solidFill>
                <a:latin typeface="Times New Roman"/>
              </a:rPr>
              <a:t>найбільша криза в Європі з часів ІІ Світової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4000" y="1188000"/>
            <a:ext cx="3456000" cy="2160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6000" y="1260000"/>
            <a:ext cx="3311999" cy="97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D100"/>
                </a:solidFill>
                <a:latin typeface="Times New Roman"/>
              </a:rPr>
              <a:t>~800 тис.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6000" y="2224800"/>
            <a:ext cx="3311999" cy="691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Жінки репродукт. віку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6000" y="2829600"/>
            <a:ext cx="3311999" cy="518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D6E8F5"/>
                </a:solidFill>
                <a:latin typeface="Times New Roman"/>
              </a:rPr>
              <a:t>критичні наслідки для народжуваності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08000" y="1188000"/>
            <a:ext cx="3456000" cy="2160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0000" y="1260000"/>
            <a:ext cx="3311999" cy="97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D100"/>
                </a:solidFill>
                <a:latin typeface="Times New Roman"/>
              </a:rPr>
              <a:t>~1,3 млн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000" y="2224800"/>
            <a:ext cx="3311999" cy="691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Повернулись 2022-2025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000" y="2829600"/>
            <a:ext cx="3311999" cy="518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D6E8F5"/>
                </a:solidFill>
                <a:latin typeface="Times New Roman"/>
              </a:rPr>
              <a:t>тенденція знижується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3780000"/>
            <a:ext cx="3456000" cy="2160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000" y="3851999"/>
            <a:ext cx="3311999" cy="97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D100"/>
                </a:solidFill>
                <a:latin typeface="Times New Roman"/>
              </a:rPr>
              <a:t>98 тис.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4816800"/>
            <a:ext cx="3311999" cy="691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Повернулись у 2025 р.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5421600"/>
            <a:ext cx="3311999" cy="518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D6E8F5"/>
                </a:solidFill>
                <a:latin typeface="Times New Roman"/>
              </a:rPr>
              <a:t>мінімум за всі роки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84000" y="3780000"/>
            <a:ext cx="3456000" cy="2160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56000" y="3851999"/>
            <a:ext cx="3311999" cy="97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D100"/>
                </a:solidFill>
                <a:latin typeface="Times New Roman"/>
              </a:rPr>
              <a:t>43 %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6000" y="4816800"/>
            <a:ext cx="3311999" cy="691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Планують повернутись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56000" y="5421600"/>
            <a:ext cx="3311999" cy="518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D6E8F5"/>
                </a:solidFill>
                <a:latin typeface="Times New Roman"/>
              </a:rPr>
              <a:t>ЦЕС, березень 2025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08000" y="3780000"/>
            <a:ext cx="3456000" cy="2160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0000" y="3851999"/>
            <a:ext cx="3311999" cy="97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D100"/>
                </a:solidFill>
                <a:latin typeface="Times New Roman"/>
              </a:rPr>
              <a:t>4,5 млн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0000" y="4816800"/>
            <a:ext cx="3311999" cy="691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Дефіцит кадрів до 2035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000" y="5421600"/>
            <a:ext cx="3311999" cy="518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D6E8F5"/>
                </a:solidFill>
                <a:latin typeface="Times New Roman"/>
              </a:rPr>
              <a:t>оцінка Easy Business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1007999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7999"/>
            <a:ext cx="180000" cy="5850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25999"/>
            <a:ext cx="11160000" cy="75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500" b="1" i="0">
                <a:solidFill>
                  <a:srgbClr val="FFFFFF"/>
                </a:solidFill>
                <a:latin typeface="Times New Roman"/>
              </a:rPr>
              <a:t>РЕГІОНАЛЬНІ ВІДМІННОСТІ (2025)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152000"/>
            <a:ext cx="5220000" cy="7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152000"/>
            <a:ext cx="522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НАЙГІРША СИТУАЦІЯ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908000"/>
            <a:ext cx="5220000" cy="4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500"/>
              </a:spcBef>
            </a:pPr>
            <a:r>
              <a:rPr sz="1300">
                <a:solidFill>
                  <a:srgbClr val="C0392B"/>
                </a:solidFill>
                <a:latin typeface="Times New Roman"/>
              </a:rPr>
              <a:t>▼  Херсонська обл.  — смертн. &gt; народж. у 12+ разів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C0392B"/>
                </a:solidFill>
                <a:latin typeface="Times New Roman"/>
              </a:rPr>
              <a:t>▼  Донецька обл.    — співвідношення 10:1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C0392B"/>
                </a:solidFill>
                <a:latin typeface="Times New Roman"/>
              </a:rPr>
              <a:t>▼  Запорізька обл.  — понад 8:1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C0392B"/>
                </a:solidFill>
                <a:latin typeface="Times New Roman"/>
              </a:rPr>
              <a:t>▼  Харківська обл.  — понад 7:1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C0392B"/>
                </a:solidFill>
                <a:latin typeface="Times New Roman"/>
              </a:rPr>
              <a:t>▼  Дніпропетровська — понад 6:1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C0392B"/>
                </a:solidFill>
                <a:latin typeface="Times New Roman"/>
              </a:rPr>
              <a:t>▼  Кіровоградська   — понад 4:1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0" y="1152000"/>
            <a:ext cx="5220000" cy="720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0000" y="1152000"/>
            <a:ext cx="522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ВІДНОСНО СТАБІЛЬНІ РЕГІОНИ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0" y="1908000"/>
            <a:ext cx="5220000" cy="4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500"/>
              </a:spcBef>
            </a:pPr>
            <a:r>
              <a:rPr sz="1300">
                <a:solidFill>
                  <a:srgbClr val="1B6CA8"/>
                </a:solidFill>
                <a:latin typeface="Times New Roman"/>
              </a:rPr>
              <a:t>▶  Рівненська обл.    — 1,6:1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B6CA8"/>
                </a:solidFill>
                <a:latin typeface="Times New Roman"/>
              </a:rPr>
              <a:t>▶  Волинська обл.     — 1,7:1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B6CA8"/>
                </a:solidFill>
                <a:latin typeface="Times New Roman"/>
              </a:rPr>
              <a:t>▶  Закарпатська обл.  — 1,8:1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B6CA8"/>
                </a:solidFill>
                <a:latin typeface="Times New Roman"/>
              </a:rPr>
              <a:t>▶  Чернівецька обл.   — 2,1:1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B6CA8"/>
                </a:solidFill>
                <a:latin typeface="Times New Roman"/>
              </a:rPr>
              <a:t>▶  Львівська обл.     — +230 дітей у 2025 р.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B6CA8"/>
                </a:solidFill>
                <a:latin typeface="Times New Roman"/>
              </a:rPr>
              <a:t>▶  Причина: традиції, релігійність, менший вплив бойових дій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0000" y="1152000"/>
            <a:ext cx="43200" cy="52200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1007999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7999"/>
            <a:ext cx="180000" cy="58500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25999"/>
            <a:ext cx="11160000" cy="75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500" b="1" i="0">
                <a:solidFill>
                  <a:srgbClr val="FFFFFF"/>
                </a:solidFill>
                <a:latin typeface="Times New Roman"/>
              </a:rPr>
              <a:t>СТАРІННЯ СУСПІЛЬСТВА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188000"/>
            <a:ext cx="5220000" cy="2088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" y="1260000"/>
            <a:ext cx="5076000" cy="939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D100"/>
                </a:solidFill>
                <a:latin typeface="Times New Roman"/>
              </a:rPr>
              <a:t>42,9 р.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" y="2190240"/>
            <a:ext cx="5076000" cy="668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Медіанний вік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" y="2774879"/>
            <a:ext cx="5076000" cy="50111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D6E8F5"/>
                </a:solidFill>
                <a:latin typeface="Times New Roman"/>
              </a:rPr>
              <a:t>один з найвищих у Європі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80000" y="1188000"/>
            <a:ext cx="5220000" cy="2088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2000" y="1260000"/>
            <a:ext cx="5076000" cy="939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D100"/>
                </a:solidFill>
                <a:latin typeface="Times New Roman"/>
              </a:rPr>
              <a:t>22 %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2000" y="2190240"/>
            <a:ext cx="5076000" cy="668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Частка 65+ у 2025 р.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2000" y="2774879"/>
            <a:ext cx="5076000" cy="50111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D6E8F5"/>
                </a:solidFill>
                <a:latin typeface="Times New Roman"/>
              </a:rPr>
              <a:t>проти 17 % у 2020 р.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3708000"/>
            <a:ext cx="5220000" cy="2088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000" y="3780000"/>
            <a:ext cx="5076000" cy="939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D100"/>
                </a:solidFill>
                <a:latin typeface="Times New Roman"/>
              </a:rPr>
              <a:t>15 %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000" y="4710240"/>
            <a:ext cx="5076000" cy="668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Частка дітей до 18 р.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000" y="5294880"/>
            <a:ext cx="5076000" cy="50111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D6E8F5"/>
                </a:solidFill>
                <a:latin typeface="Times New Roman"/>
              </a:rPr>
              <a:t>критично низький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80000" y="3708000"/>
            <a:ext cx="5220000" cy="2088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2000" y="3780000"/>
            <a:ext cx="5076000" cy="939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D100"/>
                </a:solidFill>
                <a:latin typeface="Times New Roman"/>
              </a:rPr>
              <a:t>&gt;25 %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2000" y="4710240"/>
            <a:ext cx="5076000" cy="668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Прогноз 65+ до 2040 р.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2000" y="5294880"/>
            <a:ext cx="5076000" cy="50111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D6E8F5"/>
                </a:solidFill>
                <a:latin typeface="Times New Roman"/>
              </a:rPr>
              <a:t>за поточних тенденцій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5940000"/>
            <a:ext cx="11160000" cy="827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1A375E"/>
                </a:solidFill>
                <a:latin typeface="Times New Roman"/>
              </a:rPr>
              <a:t>За медіанним віком (42,9 р.) Україна — одне з найстаріших суспільств світу. Середня тривалість життя чоловіків знизилась з 65,2 до 57,3 років (2024 р.).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1007999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7999"/>
            <a:ext cx="180000" cy="585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25999"/>
            <a:ext cx="11160000" cy="75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500" b="1" i="0">
                <a:solidFill>
                  <a:srgbClr val="FFFFFF"/>
                </a:solidFill>
                <a:latin typeface="Times New Roman"/>
              </a:rPr>
              <a:t>ЕКОНОМІЧНІ НАСЛІДКИ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152000"/>
            <a:ext cx="5220000" cy="7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152000"/>
            <a:ext cx="522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РИНОК ПРАЦІ ТА ВИРОБНИЦТВО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908000"/>
            <a:ext cx="5220000" cy="4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C0392B"/>
                </a:solidFill>
                <a:latin typeface="Times New Roman"/>
              </a:rPr>
              <a:t>▶  Дефіцит ~4,5 млн працівників до 2035 р.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0392B"/>
                </a:solidFill>
                <a:latin typeface="Times New Roman"/>
              </a:rPr>
              <a:t>▶  Зниження ВВП через брак трудових ресурсів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0392B"/>
                </a:solidFill>
                <a:latin typeface="Times New Roman"/>
              </a:rPr>
              <a:t>▶  Зростання навантаження на працюючих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0392B"/>
                </a:solidFill>
                <a:latin typeface="Times New Roman"/>
              </a:rPr>
              <a:t>▶  Загроза пенсійній системі (менше платників)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0392B"/>
                </a:solidFill>
                <a:latin typeface="Times New Roman"/>
              </a:rPr>
              <a:t>▶  56% біженців (2,8 млн) — особи прац. віку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C0392B"/>
                </a:solidFill>
                <a:latin typeface="Times New Roman"/>
              </a:rPr>
              <a:t>▶  Залучення трудових мігрантів ззовні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0" y="1152000"/>
            <a:ext cx="5220000" cy="720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0000" y="1152000"/>
            <a:ext cx="522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ФІНАНСИ ТА СОЦІАЛЬНА СФЕРА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0" y="1908000"/>
            <a:ext cx="5220000" cy="4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1B6CA8"/>
                </a:solidFill>
                <a:latin typeface="Times New Roman"/>
              </a:rPr>
              <a:t>▶  Втрата кваліфікованих кадрів (IT, медицина)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B6CA8"/>
                </a:solidFill>
                <a:latin typeface="Times New Roman"/>
              </a:rPr>
              <a:t>▶  Зниження споживчого попиту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B6CA8"/>
                </a:solidFill>
                <a:latin typeface="Times New Roman"/>
              </a:rPr>
              <a:t>▶  Демографічне навантаження на бюджет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B6CA8"/>
                </a:solidFill>
                <a:latin typeface="Times New Roman"/>
              </a:rPr>
              <a:t>▶  Ризики продовольчої безпеки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B6CA8"/>
                </a:solidFill>
                <a:latin typeface="Times New Roman"/>
              </a:rPr>
              <a:t>▶  Скорочення прифронтових регіональних економік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B6CA8"/>
                </a:solidFill>
                <a:latin typeface="Times New Roman"/>
              </a:rPr>
              <a:t>▶  Уповільнення відновлення інфраструктури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0000" y="1152000"/>
            <a:ext cx="43200" cy="52200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1007999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7999"/>
            <a:ext cx="180000" cy="58500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25999"/>
            <a:ext cx="11160000" cy="75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500" b="1" i="0">
                <a:solidFill>
                  <a:srgbClr val="FFFFFF"/>
                </a:solidFill>
                <a:latin typeface="Times New Roman"/>
              </a:rPr>
              <a:t>ЗАХОДИ ДЕРЖАВИ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152000"/>
            <a:ext cx="5220000" cy="720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152000"/>
            <a:ext cx="522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СТИМУЛЮВАННЯ НАРОДЖУВАНОСТІ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908000"/>
            <a:ext cx="5220000" cy="4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1A375E"/>
                </a:solidFill>
                <a:latin typeface="Times New Roman"/>
              </a:rPr>
              <a:t>▶  Стратегія демогр. розвитку до 2040 р. (2024)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A375E"/>
                </a:solidFill>
                <a:latin typeface="Times New Roman"/>
              </a:rPr>
              <a:t>▶  Одноразова виплата при народженні: 50 000 грн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A375E"/>
                </a:solidFill>
                <a:latin typeface="Times New Roman"/>
              </a:rPr>
              <a:t>▶  Податкові пільги для батьків (2025)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A375E"/>
                </a:solidFill>
                <a:latin typeface="Times New Roman"/>
              </a:rPr>
              <a:t>▶  Програма доступного житла для молодих сімей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A375E"/>
                </a:solidFill>
                <a:latin typeface="Times New Roman"/>
              </a:rPr>
              <a:t>▶  Розширення мережі дитячих садків та закладів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0" y="1152000"/>
            <a:ext cx="5220000" cy="720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0000" y="1152000"/>
            <a:ext cx="522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МІГРАЦІЙНА ПОЛІТИКА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0" y="1908000"/>
            <a:ext cx="5220000" cy="4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1A375E"/>
                </a:solidFill>
                <a:latin typeface="Times New Roman"/>
              </a:rPr>
              <a:t>▶  Програма повернення біженців та діаспори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A375E"/>
                </a:solidFill>
                <a:latin typeface="Times New Roman"/>
              </a:rPr>
              <a:t>▶  Залучення трудових мігрантів із 3-х країн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A375E"/>
                </a:solidFill>
                <a:latin typeface="Times New Roman"/>
              </a:rPr>
              <a:t>▶  Перекваліфікація внутрішньо переміщених осіб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A375E"/>
                </a:solidFill>
                <a:latin typeface="Times New Roman"/>
              </a:rPr>
              <a:t>▶  Розвиток регіонів для деурбанізації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A375E"/>
                </a:solidFill>
                <a:latin typeface="Times New Roman"/>
              </a:rPr>
              <a:t>▶  Партнерство ЄС-Україна з питань відновлення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0000" y="1152000"/>
            <a:ext cx="43200" cy="52200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1007999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7999"/>
            <a:ext cx="180000" cy="585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25999"/>
            <a:ext cx="11160000" cy="75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500" b="1" i="0">
                <a:solidFill>
                  <a:srgbClr val="FFFFFF"/>
                </a:solidFill>
                <a:latin typeface="Times New Roman"/>
              </a:rPr>
              <a:t>ПРОГНОЗИ ДО 2100 РОКУ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188000"/>
            <a:ext cx="3456000" cy="2160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1260000"/>
            <a:ext cx="3311999" cy="97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D100"/>
                </a:solidFill>
                <a:latin typeface="Times New Roman"/>
              </a:rPr>
              <a:t>~31 млн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2224800"/>
            <a:ext cx="3311999" cy="691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2030 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2829600"/>
            <a:ext cx="3311999" cy="518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D6E8F5"/>
                </a:solidFill>
                <a:latin typeface="Times New Roman"/>
              </a:rPr>
              <a:t>МВФ,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4000" y="1188000"/>
            <a:ext cx="3456000" cy="2160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6000" y="1260000"/>
            <a:ext cx="3311999" cy="97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D100"/>
                </a:solidFill>
                <a:latin typeface="Times New Roman"/>
              </a:rPr>
              <a:t>~30 млн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6000" y="2224800"/>
            <a:ext cx="3311999" cy="691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2037 р.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6000" y="2829600"/>
            <a:ext cx="3311999" cy="518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D6E8F5"/>
                </a:solidFill>
                <a:latin typeface="Times New Roman"/>
              </a:rPr>
              <a:t>Інститут демографії НАН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08000" y="1188000"/>
            <a:ext cx="3456000" cy="2160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0000" y="1260000"/>
            <a:ext cx="3311999" cy="97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D100"/>
                </a:solidFill>
                <a:latin typeface="Times New Roman"/>
              </a:rPr>
              <a:t>28-35 млн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000" y="2224800"/>
            <a:ext cx="3311999" cy="691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2040 р.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000" y="2829600"/>
            <a:ext cx="3311999" cy="518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D6E8F5"/>
                </a:solidFill>
                <a:latin typeface="Times New Roman"/>
              </a:rPr>
              <a:t>уряд (оптим./пес.)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3780000"/>
            <a:ext cx="3456000" cy="216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000" y="3851999"/>
            <a:ext cx="3311999" cy="97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D100"/>
                </a:solidFill>
                <a:latin typeface="Times New Roman"/>
              </a:rPr>
              <a:t>28-30 млн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4816800"/>
            <a:ext cx="3311999" cy="691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2041 р.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5421600"/>
            <a:ext cx="3311999" cy="518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D6E8F5"/>
                </a:solidFill>
                <a:latin typeface="Times New Roman"/>
              </a:rPr>
              <a:t>незалежні експерти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84000" y="3780000"/>
            <a:ext cx="3456000" cy="216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56000" y="3851999"/>
            <a:ext cx="3311999" cy="97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D100"/>
                </a:solidFill>
                <a:latin typeface="Times New Roman"/>
              </a:rPr>
              <a:t>~25 млн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6000" y="4816800"/>
            <a:ext cx="3311999" cy="691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2050 р.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56000" y="5421600"/>
            <a:ext cx="3311999" cy="518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D6E8F5"/>
                </a:solidFill>
                <a:latin typeface="Times New Roman"/>
              </a:rPr>
              <a:t>поточна тенденція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08000" y="3780000"/>
            <a:ext cx="3456000" cy="216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0000" y="3851999"/>
            <a:ext cx="3311999" cy="97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D100"/>
                </a:solidFill>
                <a:latin typeface="Times New Roman"/>
              </a:rPr>
              <a:t>~15 млн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0000" y="4816800"/>
            <a:ext cx="3311999" cy="691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2100 р.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000" y="5421600"/>
            <a:ext cx="3311999" cy="518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D6E8F5"/>
                </a:solidFill>
                <a:latin typeface="Times New Roman"/>
              </a:rPr>
              <a:t>прогноз ООН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000" y="6048000"/>
            <a:ext cx="1152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C0392B"/>
                </a:solidFill>
                <a:latin typeface="Times New Roman"/>
              </a:rPr>
              <a:t>"Незалежно від тривалості війни, Україна навряд чи відновиться демографічно. Навіть у 2040 р. — лише ~35 млн, на 20% менше, ніж до війни." — WIIW, 2023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3240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4000"/>
            <a:ext cx="12204000" cy="251999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648000"/>
            <a:ext cx="108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/>
              </a:rPr>
              <a:t>ВИСНОВКИ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620000"/>
            <a:ext cx="1080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  <a:latin typeface="Times New Roman"/>
              </a:rPr>
              <a:t>1.  У 2025 р. смертність перевищує народжуваність у ~3 рази (485 тис. / 169 тис.) — одне з найгірших у світі.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  <a:latin typeface="Times New Roman"/>
              </a:rPr>
              <a:t>2.  TFR = 0,9 — рекордно низький; населення: 28–33 млн на початок 2025 р.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  <a:latin typeface="Times New Roman"/>
              </a:rPr>
              <a:t>3.  6,9 млн українців — біженці за кордоном; лише 43 % планують повернутись.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  <a:latin typeface="Times New Roman"/>
              </a:rPr>
              <a:t>4.  Без системних заходів населення може скоротитись до 25 млн до 2050 р. (ООН).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  <a:latin typeface="Times New Roman"/>
              </a:rPr>
              <a:t>5.  Демографічна криза несе прямі загрози: дефіцит 4,5 млн робітників, криза пенсійної системи.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  <a:latin typeface="Times New Roman"/>
              </a:rPr>
              <a:t>6.  Необхідний комплексний підхід: народжуваність + повернення + міграція + соціальна інфраструктура.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6443999"/>
            <a:ext cx="10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D6E8F5"/>
                </a:solidFill>
                <a:latin typeface="Times New Roman"/>
              </a:rPr>
              <a:t>Джерела: Мін-юст України (2026); МВФ (2025); ООН/УВКБ (2025); НАН України; ЦЕС; Wilson Center; EuroMaidan Press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