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4" r:id="rId8"/>
    <p:sldId id="265" r:id="rId9"/>
    <p:sldId id="266" r:id="rId1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76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368000"/>
            <a:ext cx="12193200" cy="432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36800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411200"/>
            <a:ext cx="12193200" cy="5400000"/>
          </a:xfrm>
          <a:prstGeom prst="rect">
            <a:avLst/>
          </a:prstGeom>
          <a:solidFill>
            <a:srgbClr val="11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0000" y="216000"/>
            <a:ext cx="10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 dirty="0" err="1">
                <a:solidFill>
                  <a:srgbClr val="00B0F0"/>
                </a:solidFill>
              </a:rPr>
              <a:t>DocControl</a:t>
            </a:r>
            <a:endParaRPr sz="5400" b="1" i="0" dirty="0">
              <a:solidFill>
                <a:srgbClr val="00B0F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0000" y="10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 dirty="0" err="1">
                <a:solidFill>
                  <a:srgbClr val="FFFFFF"/>
                </a:solidFill>
              </a:rPr>
              <a:t>Система</a:t>
            </a:r>
            <a:r>
              <a:rPr sz="2400" b="0" i="0" dirty="0">
                <a:solidFill>
                  <a:srgbClr val="FFFFFF"/>
                </a:solidFill>
              </a:rPr>
              <a:t> </a:t>
            </a:r>
            <a:r>
              <a:rPr sz="2400" b="0" i="0" dirty="0" err="1">
                <a:solidFill>
                  <a:srgbClr val="FFFFFF"/>
                </a:solidFill>
              </a:rPr>
              <a:t>управління</a:t>
            </a:r>
            <a:r>
              <a:rPr sz="2400" b="0" i="0" dirty="0">
                <a:solidFill>
                  <a:srgbClr val="FFFFFF"/>
                </a:solidFill>
              </a:rPr>
              <a:t> </a:t>
            </a:r>
            <a:r>
              <a:rPr sz="2400" b="0" i="0" dirty="0" err="1">
                <a:solidFill>
                  <a:srgbClr val="FFFFFF"/>
                </a:solidFill>
              </a:rPr>
              <a:t>документами</a:t>
            </a:r>
            <a:r>
              <a:rPr sz="2400" b="0" i="0" dirty="0">
                <a:solidFill>
                  <a:srgbClr val="FFFFFF"/>
                </a:solidFill>
              </a:rPr>
              <a:t> </a:t>
            </a:r>
            <a:r>
              <a:rPr sz="2400" b="0" i="0" dirty="0" err="1">
                <a:solidFill>
                  <a:srgbClr val="FFFFFF"/>
                </a:solidFill>
              </a:rPr>
              <a:t>підприємства</a:t>
            </a:r>
            <a:endParaRPr sz="2400" b="0" i="0" dirty="0">
              <a:solidFill>
                <a:srgbClr val="FFFFFF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0000" y="1655999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AACCFF"/>
                </a:solidFill>
              </a:rPr>
              <a:t>Презентація програмного забезпечення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2196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88AADD"/>
                </a:solidFill>
              </a:rPr>
              <a:t>Семінарське</a:t>
            </a:r>
            <a:r>
              <a:rPr sz="1400" b="0" i="0" dirty="0">
                <a:solidFill>
                  <a:srgbClr val="88AADD"/>
                </a:solidFill>
              </a:rPr>
              <a:t> </a:t>
            </a:r>
            <a:r>
              <a:rPr sz="1400" b="0" i="0" dirty="0" err="1">
                <a:solidFill>
                  <a:srgbClr val="88AADD"/>
                </a:solidFill>
              </a:rPr>
              <a:t>заняття</a:t>
            </a:r>
            <a:r>
              <a:rPr sz="1400" b="0" i="0" dirty="0">
                <a:solidFill>
                  <a:srgbClr val="88AADD"/>
                </a:solidFill>
              </a:rPr>
              <a:t> №5  •  </a:t>
            </a:r>
            <a:r>
              <a:rPr sz="1400" b="0" i="0" dirty="0" err="1">
                <a:solidFill>
                  <a:srgbClr val="88AADD"/>
                </a:solidFill>
              </a:rPr>
              <a:t>Групова</a:t>
            </a:r>
            <a:r>
              <a:rPr sz="1400" b="0" i="0" dirty="0">
                <a:solidFill>
                  <a:srgbClr val="88AADD"/>
                </a:solidFill>
              </a:rPr>
              <a:t> </a:t>
            </a:r>
            <a:r>
              <a:rPr sz="1400" b="0" i="0" dirty="0" err="1">
                <a:solidFill>
                  <a:srgbClr val="88AADD"/>
                </a:solidFill>
              </a:rPr>
              <a:t>динаміка</a:t>
            </a:r>
            <a:endParaRPr sz="1400" b="0" i="0" dirty="0">
              <a:solidFill>
                <a:srgbClr val="88AADD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75B49A-3AFC-4329-B7D3-FF1F131ED1B4}"/>
              </a:ext>
            </a:extLst>
          </p:cNvPr>
          <p:cNvSpPr txBox="1"/>
          <p:nvPr/>
        </p:nvSpPr>
        <p:spPr>
          <a:xfrm>
            <a:off x="540000" y="2628001"/>
            <a:ext cx="10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uk-UA" sz="1400" dirty="0">
                <a:solidFill>
                  <a:srgbClr val="88AADD"/>
                </a:solidFill>
              </a:rPr>
              <a:t>Виконав: Троцький К. А. ПЗ-221</a:t>
            </a:r>
            <a:endParaRPr sz="1400" b="0" i="0" dirty="0">
              <a:solidFill>
                <a:srgbClr val="88AADD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86400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116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Зміст презентації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080000"/>
            <a:ext cx="1080000" cy="468000"/>
          </a:xfrm>
          <a:prstGeom prst="rect">
            <a:avLst/>
          </a:prstGeom>
          <a:solidFill>
            <a:srgbClr val="25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68000" y="1134000"/>
            <a:ext cx="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0F0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17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Проблема та мета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0000" y="1080000"/>
            <a:ext cx="1080000" cy="468000"/>
          </a:xfrm>
          <a:prstGeom prst="rect">
            <a:avLst/>
          </a:prstGeom>
          <a:solidFill>
            <a:srgbClr val="25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8000" y="1134000"/>
            <a:ext cx="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0F0"/>
                </a:solidFill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8000" y="117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Опис програмного забезпечення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655999"/>
            <a:ext cx="1080000" cy="468000"/>
          </a:xfrm>
          <a:prstGeom prst="rect">
            <a:avLst/>
          </a:prstGeom>
          <a:solidFill>
            <a:srgbClr val="25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8000" y="1710000"/>
            <a:ext cx="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0F0"/>
                </a:solidFill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48000" y="1745999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Архітектура системи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655999"/>
            <a:ext cx="1080000" cy="468000"/>
          </a:xfrm>
          <a:prstGeom prst="rect">
            <a:avLst/>
          </a:prstGeom>
          <a:solidFill>
            <a:srgbClr val="25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8000" y="1710000"/>
            <a:ext cx="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0F0"/>
                </a:solidFill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88000" y="1745999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Функціональні можливості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2232000"/>
            <a:ext cx="1080000" cy="468000"/>
          </a:xfrm>
          <a:prstGeom prst="rect">
            <a:avLst/>
          </a:prstGeom>
          <a:solidFill>
            <a:srgbClr val="25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8000" y="2286000"/>
            <a:ext cx="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0F0"/>
                </a:solidFill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48000" y="2322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Демонстрація інтерфейсу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000" y="2232000"/>
            <a:ext cx="1080000" cy="468000"/>
          </a:xfrm>
          <a:prstGeom prst="rect">
            <a:avLst/>
          </a:prstGeom>
          <a:solidFill>
            <a:srgbClr val="25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8000" y="2286000"/>
            <a:ext cx="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0F0"/>
                </a:solidFill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88000" y="2322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Переваги та унікальність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0000" y="2808000"/>
            <a:ext cx="1080000" cy="468000"/>
          </a:xfrm>
          <a:prstGeom prst="rect">
            <a:avLst/>
          </a:prstGeom>
          <a:solidFill>
            <a:srgbClr val="25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8000" y="2862000"/>
            <a:ext cx="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0F0"/>
                </a:solidFill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48000" y="2898000"/>
            <a:ext cx="468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 dirty="0" err="1">
                <a:solidFill>
                  <a:srgbClr val="1A1A2E"/>
                </a:solidFill>
              </a:rPr>
              <a:t>Висновки</a:t>
            </a:r>
            <a:endParaRPr sz="1800" b="0" i="0" dirty="0">
              <a:solidFill>
                <a:srgbClr val="1A1A2E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76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00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116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0F0"/>
                </a:solidFill>
              </a:rPr>
              <a:t>Проблема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00000"/>
            <a:ext cx="12193200" cy="288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0000" y="1080000"/>
            <a:ext cx="5580000" cy="684000"/>
          </a:xfrm>
          <a:prstGeom prst="rect">
            <a:avLst/>
          </a:prstGeom>
          <a:solidFill>
            <a:srgbClr val="1E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116000"/>
            <a:ext cx="522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📄  Хаотичне зберігання документів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3999" y="1386000"/>
            <a:ext cx="522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ACCFF"/>
                </a:solidFill>
              </a:rPr>
              <a:t>Файли розкидані по різних папках, немає єдиного реєстру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999" y="1080000"/>
            <a:ext cx="5580000" cy="684000"/>
          </a:xfrm>
          <a:prstGeom prst="rect">
            <a:avLst/>
          </a:prstGeom>
          <a:solidFill>
            <a:srgbClr val="1E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7999" y="1116000"/>
            <a:ext cx="522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🔍  Складний пошук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7999" y="1386000"/>
            <a:ext cx="522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ACCFF"/>
                </a:solidFill>
              </a:rPr>
              <a:t>Пошук потрібного документа займає до 30 хвилин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0000" y="1872000"/>
            <a:ext cx="5580000" cy="684000"/>
          </a:xfrm>
          <a:prstGeom prst="rect">
            <a:avLst/>
          </a:prstGeom>
          <a:solidFill>
            <a:srgbClr val="1E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3999" y="1908000"/>
            <a:ext cx="522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🔒  Відсутність контролю доступу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3999" y="2178000"/>
            <a:ext cx="522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ACCFF"/>
                </a:solidFill>
              </a:rPr>
              <a:t>Конфіденційні документи доступні всім співробітникам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999" y="1872000"/>
            <a:ext cx="5580000" cy="684000"/>
          </a:xfrm>
          <a:prstGeom prst="rect">
            <a:avLst/>
          </a:prstGeom>
          <a:solidFill>
            <a:srgbClr val="1E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7999" y="1908000"/>
            <a:ext cx="522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📊  Немає аналітики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7999" y="2178000"/>
            <a:ext cx="522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ACCFF"/>
                </a:solidFill>
              </a:rPr>
              <a:t>Неможливо відстежити статус документів та навантаження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76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864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116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0F0"/>
                </a:solidFill>
              </a:rPr>
              <a:t>Архітектура системи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007999"/>
            <a:ext cx="360000" cy="36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0000" y="1044000"/>
            <a:ext cx="3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376C"/>
                </a:solidFill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" y="1007999"/>
            <a:ext cx="10620000" cy="360000"/>
          </a:xfrm>
          <a:prstGeom prst="rect">
            <a:avLst/>
          </a:prstGeom>
          <a:solidFill>
            <a:srgbClr val="1E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6000" y="1025999"/>
            <a:ext cx="36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0F0"/>
                </a:solidFill>
              </a:rPr>
              <a:t>Рівень UI (WinForms)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80000" y="1062000"/>
            <a:ext cx="66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DocControlUI — інтерфейс користувача, форми, звіти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1548000"/>
            <a:ext cx="360000" cy="36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0000" y="1583999"/>
            <a:ext cx="3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376C"/>
                </a:solidFill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000" y="1548000"/>
            <a:ext cx="10620000" cy="360000"/>
          </a:xfrm>
          <a:prstGeom prst="rect">
            <a:avLst/>
          </a:prstGeom>
          <a:solidFill>
            <a:srgbClr val="1E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36000" y="1565999"/>
            <a:ext cx="36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0F0"/>
                </a:solidFill>
              </a:rPr>
              <a:t>Мережевий рівень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0000" y="1602000"/>
            <a:ext cx="66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DocControlNetworkCore — TCP/IP синхронізація, протокол обміну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2088000"/>
            <a:ext cx="360000" cy="36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0000" y="2124000"/>
            <a:ext cx="3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376C"/>
                </a:solidFill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2088000"/>
            <a:ext cx="10620000" cy="360000"/>
          </a:xfrm>
          <a:prstGeom prst="rect">
            <a:avLst/>
          </a:prstGeom>
          <a:solidFill>
            <a:srgbClr val="1E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6000" y="2106000"/>
            <a:ext cx="36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0F0"/>
                </a:solidFill>
              </a:rPr>
              <a:t>Сервісний рівень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0000" y="2142000"/>
            <a:ext cx="66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DocControlService — Windows Service, фоновий сервер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0000" y="2641447"/>
            <a:ext cx="113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 dirty="0" err="1">
                <a:solidFill>
                  <a:srgbClr val="AACCFF"/>
                </a:solidFill>
              </a:rPr>
              <a:t>Технологічний</a:t>
            </a:r>
            <a:r>
              <a:rPr sz="1400" b="0" i="1" dirty="0">
                <a:solidFill>
                  <a:srgbClr val="AACCFF"/>
                </a:solidFill>
              </a:rPr>
              <a:t> </a:t>
            </a:r>
            <a:r>
              <a:rPr sz="1400" b="0" i="1" dirty="0" err="1">
                <a:solidFill>
                  <a:srgbClr val="AACCFF"/>
                </a:solidFill>
              </a:rPr>
              <a:t>стек</a:t>
            </a:r>
            <a:r>
              <a:rPr sz="1400" b="0" i="1" dirty="0">
                <a:solidFill>
                  <a:srgbClr val="AACCFF"/>
                </a:solidFill>
              </a:rPr>
              <a:t>: .NET 8.0 • C# • WinForms • Windows Services • ML.NET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86400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116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Функціональні можливості</a:t>
            </a:r>
          </a:p>
        </p:txBody>
      </p:sp>
      <p:sp>
        <p:nvSpPr>
          <p:cNvPr id="4" name="Rectangle 3"/>
          <p:cNvSpPr/>
          <p:nvPr/>
        </p:nvSpPr>
        <p:spPr>
          <a:xfrm>
            <a:off x="3174918" y="1206000"/>
            <a:ext cx="6283130" cy="5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174919" y="1206000"/>
            <a:ext cx="125999" cy="540000"/>
          </a:xfrm>
          <a:prstGeom prst="rect">
            <a:avLst/>
          </a:prstGeom>
          <a:solidFill>
            <a:srgbClr val="25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390918" y="1224000"/>
            <a:ext cx="5220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76C"/>
                </a:solidFill>
              </a:rPr>
              <a:t>📋 Реєстрація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90917" y="1458001"/>
            <a:ext cx="559041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A1A2E"/>
                </a:solidFill>
              </a:rPr>
              <a:t>Додавання</a:t>
            </a:r>
            <a:r>
              <a:rPr sz="1200" b="0" i="0" dirty="0">
                <a:solidFill>
                  <a:srgbClr val="1A1A2E"/>
                </a:solidFill>
              </a:rPr>
              <a:t> </a:t>
            </a:r>
            <a:r>
              <a:rPr sz="1200" b="0" i="0" dirty="0" err="1">
                <a:solidFill>
                  <a:srgbClr val="1A1A2E"/>
                </a:solidFill>
              </a:rPr>
              <a:t>нових</a:t>
            </a:r>
            <a:r>
              <a:rPr sz="1200" b="0" i="0" dirty="0">
                <a:solidFill>
                  <a:srgbClr val="1A1A2E"/>
                </a:solidFill>
              </a:rPr>
              <a:t> </a:t>
            </a:r>
            <a:r>
              <a:rPr sz="1200" b="0" i="0" dirty="0" err="1">
                <a:solidFill>
                  <a:srgbClr val="1A1A2E"/>
                </a:solidFill>
              </a:rPr>
              <a:t>документів</a:t>
            </a:r>
            <a:r>
              <a:rPr sz="1200" b="0" i="0" dirty="0">
                <a:solidFill>
                  <a:srgbClr val="1A1A2E"/>
                </a:solidFill>
              </a:rPr>
              <a:t> </a:t>
            </a:r>
            <a:r>
              <a:rPr sz="1200" b="0" i="0" dirty="0" err="1">
                <a:solidFill>
                  <a:srgbClr val="1A1A2E"/>
                </a:solidFill>
              </a:rPr>
              <a:t>із</a:t>
            </a:r>
            <a:r>
              <a:rPr sz="1200" b="0" i="0" dirty="0">
                <a:solidFill>
                  <a:srgbClr val="1A1A2E"/>
                </a:solidFill>
              </a:rPr>
              <a:t> </a:t>
            </a:r>
            <a:r>
              <a:rPr sz="1200" b="0" i="0" dirty="0" err="1">
                <a:solidFill>
                  <a:srgbClr val="1A1A2E"/>
                </a:solidFill>
              </a:rPr>
              <a:t>метаданими</a:t>
            </a:r>
            <a:r>
              <a:rPr sz="1200" b="0" i="0" dirty="0">
                <a:solidFill>
                  <a:srgbClr val="1A1A2E"/>
                </a:solidFill>
              </a:rPr>
              <a:t> (</a:t>
            </a:r>
            <a:r>
              <a:rPr sz="1200" b="0" i="0" dirty="0" err="1">
                <a:solidFill>
                  <a:srgbClr val="1A1A2E"/>
                </a:solidFill>
              </a:rPr>
              <a:t>тип</a:t>
            </a:r>
            <a:r>
              <a:rPr sz="1200" b="0" i="0" dirty="0">
                <a:solidFill>
                  <a:srgbClr val="1A1A2E"/>
                </a:solidFill>
              </a:rPr>
              <a:t>, </a:t>
            </a:r>
            <a:r>
              <a:rPr sz="1200" b="0" i="0" dirty="0" err="1">
                <a:solidFill>
                  <a:srgbClr val="1A1A2E"/>
                </a:solidFill>
              </a:rPr>
              <a:t>дата</a:t>
            </a:r>
            <a:r>
              <a:rPr sz="1200" b="0" i="0" dirty="0">
                <a:solidFill>
                  <a:srgbClr val="1A1A2E"/>
                </a:solidFill>
              </a:rPr>
              <a:t>, </a:t>
            </a:r>
            <a:r>
              <a:rPr sz="1200" b="0" i="0" dirty="0" err="1">
                <a:solidFill>
                  <a:srgbClr val="1A1A2E"/>
                </a:solidFill>
              </a:rPr>
              <a:t>відповідальний</a:t>
            </a:r>
            <a:r>
              <a:rPr sz="1200" b="0" i="0" dirty="0">
                <a:solidFill>
                  <a:srgbClr val="1A1A2E"/>
                </a:solidFill>
              </a:rPr>
              <a:t>, </a:t>
            </a:r>
            <a:r>
              <a:rPr sz="1200" b="0" i="0" dirty="0" err="1">
                <a:solidFill>
                  <a:srgbClr val="1A1A2E"/>
                </a:solidFill>
              </a:rPr>
              <a:t>пріоритет</a:t>
            </a:r>
            <a:r>
              <a:rPr sz="1200" b="0" i="0" dirty="0">
                <a:solidFill>
                  <a:srgbClr val="1A1A2E"/>
                </a:solidFill>
              </a:rPr>
              <a:t>)</a:t>
            </a:r>
          </a:p>
        </p:txBody>
      </p:sp>
      <p:sp>
        <p:nvSpPr>
          <p:cNvPr id="8" name="Rectangle 7"/>
          <p:cNvSpPr/>
          <p:nvPr/>
        </p:nvSpPr>
        <p:spPr>
          <a:xfrm>
            <a:off x="3174919" y="3817270"/>
            <a:ext cx="6283128" cy="5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174919" y="3817270"/>
            <a:ext cx="125999" cy="540000"/>
          </a:xfrm>
          <a:prstGeom prst="rect">
            <a:avLst/>
          </a:prstGeom>
          <a:solidFill>
            <a:srgbClr val="25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90919" y="3835270"/>
            <a:ext cx="5220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76C"/>
                </a:solidFill>
              </a:rPr>
              <a:t>🔍 Пошук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90919" y="4069271"/>
            <a:ext cx="522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Швидкий пошук за назвою, типом, датою, статусом або відповідальним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74918" y="1818001"/>
            <a:ext cx="6283129" cy="5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174919" y="1818001"/>
            <a:ext cx="125999" cy="540000"/>
          </a:xfrm>
          <a:prstGeom prst="rect">
            <a:avLst/>
          </a:prstGeom>
          <a:solidFill>
            <a:srgbClr val="25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90918" y="1836001"/>
            <a:ext cx="5220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76C"/>
                </a:solidFill>
              </a:rPr>
              <a:t>🔒 Доступ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0918" y="2070001"/>
            <a:ext cx="522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Три ролі: Адміністратор, Редактор, Переглядач. Аудит дій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74919" y="2430000"/>
            <a:ext cx="6283128" cy="5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174919" y="2430000"/>
            <a:ext cx="125999" cy="540000"/>
          </a:xfrm>
          <a:prstGeom prst="rect">
            <a:avLst/>
          </a:prstGeom>
          <a:solidFill>
            <a:srgbClr val="25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390918" y="2448000"/>
            <a:ext cx="5220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76C"/>
                </a:solidFill>
              </a:rPr>
              <a:t>🌐 Мережа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90918" y="2682001"/>
            <a:ext cx="522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Синхронізація між клієнтами через Windows Service у реальному часі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74918" y="3123635"/>
            <a:ext cx="6283129" cy="5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174919" y="3123635"/>
            <a:ext cx="125999" cy="540000"/>
          </a:xfrm>
          <a:prstGeom prst="rect">
            <a:avLst/>
          </a:prstGeom>
          <a:solidFill>
            <a:srgbClr val="25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390919" y="3141635"/>
            <a:ext cx="5220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76C"/>
                </a:solidFill>
              </a:rPr>
              <a:t>📊 Аналітика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90919" y="3375636"/>
            <a:ext cx="522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Дашборд зі статистикою: кількість документів, активність, навантаження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76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864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116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0F0"/>
                </a:solidFill>
              </a:rPr>
              <a:t>Інтерфейс користувача</a:t>
            </a:r>
          </a:p>
        </p:txBody>
      </p:sp>
      <p:pic>
        <p:nvPicPr>
          <p:cNvPr id="52" name="Рисунок 51">
            <a:extLst>
              <a:ext uri="{FF2B5EF4-FFF2-40B4-BE49-F238E27FC236}">
                <a16:creationId xmlns:a16="http://schemas.microsoft.com/office/drawing/2014/main" id="{E19FE722-FFA2-4F8F-BB7A-B16A6D467F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3317" y="1008000"/>
            <a:ext cx="9302190" cy="50598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76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864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116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0F0"/>
                </a:solidFill>
              </a:rPr>
              <a:t>Переваги та унікальні можливості</a:t>
            </a:r>
          </a:p>
        </p:txBody>
      </p:sp>
      <p:sp>
        <p:nvSpPr>
          <p:cNvPr id="4" name="Rectangle 3"/>
          <p:cNvSpPr/>
          <p:nvPr/>
        </p:nvSpPr>
        <p:spPr>
          <a:xfrm>
            <a:off x="1830214" y="1070750"/>
            <a:ext cx="3708000" cy="756000"/>
          </a:xfrm>
          <a:prstGeom prst="rect">
            <a:avLst/>
          </a:prstGeom>
          <a:solidFill>
            <a:srgbClr val="1E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938214" y="1124751"/>
            <a:ext cx="5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</a:rPr>
              <a:t>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50214" y="1124751"/>
            <a:ext cx="2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Все в одному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50214" y="1394751"/>
            <a:ext cx="28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E8FF"/>
                </a:solidFill>
              </a:rPr>
              <a:t>Єдина платформа: реєстр + AI + мережа + аналітика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3033" y="1985154"/>
            <a:ext cx="3708000" cy="756000"/>
          </a:xfrm>
          <a:prstGeom prst="rect">
            <a:avLst/>
          </a:prstGeom>
          <a:solidFill>
            <a:srgbClr val="1E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871033" y="2039155"/>
            <a:ext cx="5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</a:rPr>
              <a:t>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3033" y="2039155"/>
            <a:ext cx="2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Продуктивність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33" y="2309155"/>
            <a:ext cx="28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E8FF"/>
                </a:solidFill>
              </a:rPr>
              <a:t>Пошук документа за 3 секунди замість 30 хвилин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15885" y="2962306"/>
            <a:ext cx="3708000" cy="756000"/>
          </a:xfrm>
          <a:prstGeom prst="rect">
            <a:avLst/>
          </a:prstGeom>
          <a:solidFill>
            <a:srgbClr val="1E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923885" y="3016307"/>
            <a:ext cx="5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</a:rPr>
              <a:t>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35885" y="3016307"/>
            <a:ext cx="2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Безпека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35885" y="3286307"/>
            <a:ext cx="28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E8FF"/>
                </a:solidFill>
              </a:rPr>
              <a:t>Рольова модель доступу + повний аудит всіх дій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00633" y="4991860"/>
            <a:ext cx="3708000" cy="756000"/>
          </a:xfrm>
          <a:prstGeom prst="rect">
            <a:avLst/>
          </a:prstGeom>
          <a:solidFill>
            <a:srgbClr val="1E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908633" y="5045860"/>
            <a:ext cx="5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</a:rPr>
              <a:t>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0633" y="5045860"/>
            <a:ext cx="2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Мережевість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0633" y="5315860"/>
            <a:ext cx="28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E8FF"/>
                </a:solidFill>
              </a:rPr>
              <a:t>Реальний час — зміни синхронізуються миттєво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88633" y="3907132"/>
            <a:ext cx="3708000" cy="756000"/>
          </a:xfrm>
          <a:prstGeom prst="rect">
            <a:avLst/>
          </a:prstGeom>
          <a:solidFill>
            <a:srgbClr val="1E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796633" y="3961132"/>
            <a:ext cx="5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</a:rPr>
              <a:t>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8633" y="3961132"/>
            <a:ext cx="2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Простота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8633" y="4231132"/>
            <a:ext cx="28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E8FF"/>
                </a:solidFill>
              </a:rPr>
              <a:t>Windows-нативний інтерфейс, мінімальне навчання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86400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116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Аналітика та моніторинг</a:t>
            </a:r>
          </a:p>
        </p:txBody>
      </p:sp>
      <p:sp>
        <p:nvSpPr>
          <p:cNvPr id="4" name="Rectangle 3"/>
          <p:cNvSpPr/>
          <p:nvPr/>
        </p:nvSpPr>
        <p:spPr>
          <a:xfrm>
            <a:off x="-4374" y="858988"/>
            <a:ext cx="6098786" cy="2569058"/>
          </a:xfrm>
          <a:prstGeom prst="rect">
            <a:avLst/>
          </a:prstGeom>
          <a:solidFill>
            <a:srgbClr val="25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6000"/>
          </a:p>
        </p:txBody>
      </p:sp>
      <p:sp>
        <p:nvSpPr>
          <p:cNvPr id="5" name="TextBox 4"/>
          <p:cNvSpPr txBox="1"/>
          <p:nvPr/>
        </p:nvSpPr>
        <p:spPr>
          <a:xfrm>
            <a:off x="327061" y="1315878"/>
            <a:ext cx="56922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0" b="1" i="0" dirty="0">
                <a:solidFill>
                  <a:srgbClr val="FFFFFF"/>
                </a:solidFill>
              </a:rPr>
              <a:t>1 247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1011" y="2396387"/>
            <a:ext cx="56922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FFFFFF"/>
                </a:solidFill>
              </a:rPr>
              <a:t>документів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4412" y="864000"/>
            <a:ext cx="6098788" cy="2569058"/>
          </a:xfrm>
          <a:prstGeom prst="rect">
            <a:avLst/>
          </a:prstGeom>
          <a:solidFill>
            <a:srgbClr val="009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6000"/>
          </a:p>
        </p:txBody>
      </p:sp>
      <p:sp>
        <p:nvSpPr>
          <p:cNvPr id="8" name="TextBox 7"/>
          <p:cNvSpPr txBox="1"/>
          <p:nvPr/>
        </p:nvSpPr>
        <p:spPr>
          <a:xfrm>
            <a:off x="6238412" y="1335621"/>
            <a:ext cx="5692202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0" b="1" i="0" dirty="0">
                <a:solidFill>
                  <a:srgbClr val="FFFFFF"/>
                </a:solidFill>
              </a:rPr>
              <a:t>98.2%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8412" y="2400197"/>
            <a:ext cx="569220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FFFFFF"/>
                </a:solidFill>
              </a:rPr>
              <a:t>доступність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1" y="3429954"/>
            <a:ext cx="6094410" cy="3428046"/>
          </a:xfrm>
          <a:prstGeom prst="rect">
            <a:avLst/>
          </a:prstGeom>
          <a:solidFill>
            <a:srgbClr val="F5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6000"/>
          </a:p>
        </p:txBody>
      </p:sp>
      <p:sp>
        <p:nvSpPr>
          <p:cNvPr id="11" name="TextBox 10"/>
          <p:cNvSpPr txBox="1"/>
          <p:nvPr/>
        </p:nvSpPr>
        <p:spPr>
          <a:xfrm>
            <a:off x="327061" y="3483954"/>
            <a:ext cx="568811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0" b="1" i="0" dirty="0">
                <a:solidFill>
                  <a:srgbClr val="FFFFFF"/>
                </a:solidFill>
              </a:rPr>
              <a:t>3.2 </a:t>
            </a:r>
            <a:r>
              <a:rPr sz="8800" b="1" i="0" dirty="0" err="1">
                <a:solidFill>
                  <a:srgbClr val="FFFFFF"/>
                </a:solidFill>
              </a:rPr>
              <a:t>сек</a:t>
            </a:r>
            <a:endParaRPr sz="8800" b="1" i="0" dirty="0">
              <a:solidFill>
                <a:srgbClr val="FFFFFF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03148" y="4866965"/>
            <a:ext cx="568811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 dirty="0" err="1">
                <a:solidFill>
                  <a:srgbClr val="FFFFFF"/>
                </a:solidFill>
              </a:rPr>
              <a:t>середній</a:t>
            </a:r>
            <a:r>
              <a:rPr sz="4800" b="0" i="0" dirty="0">
                <a:solidFill>
                  <a:srgbClr val="FFFFFF"/>
                </a:solidFill>
              </a:rPr>
              <a:t> </a:t>
            </a:r>
            <a:r>
              <a:rPr sz="4800" b="0" i="0" dirty="0" err="1">
                <a:solidFill>
                  <a:srgbClr val="FFFFFF"/>
                </a:solidFill>
              </a:rPr>
              <a:t>пошук</a:t>
            </a:r>
            <a:endParaRPr sz="4800" b="0" i="0" dirty="0">
              <a:solidFill>
                <a:srgbClr val="FFFFFF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094412" y="3429000"/>
            <a:ext cx="6094413" cy="342900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6000"/>
          </a:p>
        </p:txBody>
      </p:sp>
      <p:sp>
        <p:nvSpPr>
          <p:cNvPr id="14" name="TextBox 13"/>
          <p:cNvSpPr txBox="1"/>
          <p:nvPr/>
        </p:nvSpPr>
        <p:spPr>
          <a:xfrm>
            <a:off x="6238412" y="3483000"/>
            <a:ext cx="5688119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0" b="1" i="0" dirty="0">
                <a:solidFill>
                  <a:srgbClr val="FFFFFF"/>
                </a:solidFill>
              </a:rPr>
              <a:t>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7558" y="4497634"/>
            <a:ext cx="568811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 dirty="0" err="1">
                <a:solidFill>
                  <a:srgbClr val="FFFFFF"/>
                </a:solidFill>
              </a:rPr>
              <a:t>активних</a:t>
            </a:r>
            <a:r>
              <a:rPr sz="4800" b="0" i="0" dirty="0">
                <a:solidFill>
                  <a:srgbClr val="FFFFFF"/>
                </a:solidFill>
              </a:rPr>
              <a:t> </a:t>
            </a:r>
            <a:r>
              <a:rPr sz="4800" b="0" i="0" dirty="0" err="1">
                <a:solidFill>
                  <a:srgbClr val="FFFFFF"/>
                </a:solidFill>
              </a:rPr>
              <a:t>користувачів</a:t>
            </a:r>
            <a:endParaRPr sz="4800" b="0" i="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76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260000"/>
            <a:ext cx="12193200" cy="432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260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03200"/>
            <a:ext cx="12193200" cy="5400000"/>
          </a:xfrm>
          <a:prstGeom prst="rect">
            <a:avLst/>
          </a:prstGeom>
          <a:solidFill>
            <a:srgbClr val="11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0000" y="180000"/>
            <a:ext cx="10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00B0F0"/>
                </a:solidFill>
              </a:rPr>
              <a:t>DocControl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15120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B0F0"/>
                </a:solidFill>
              </a:rPr>
              <a:t>Наступні кроки: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0000" y="1872000"/>
            <a:ext cx="93600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 dirty="0" err="1">
                <a:solidFill>
                  <a:srgbClr val="FFFFFF"/>
                </a:solidFill>
              </a:rPr>
              <a:t>Ознайомитись</a:t>
            </a:r>
            <a:r>
              <a:rPr sz="1700" b="0" i="0" dirty="0">
                <a:solidFill>
                  <a:srgbClr val="FFFFFF"/>
                </a:solidFill>
              </a:rPr>
              <a:t> з </a:t>
            </a:r>
            <a:r>
              <a:rPr sz="1700" b="0" i="0" dirty="0" err="1">
                <a:solidFill>
                  <a:srgbClr val="FFFFFF"/>
                </a:solidFill>
              </a:rPr>
              <a:t>документацією</a:t>
            </a:r>
            <a:r>
              <a:rPr sz="1700" b="0" i="0" dirty="0">
                <a:solidFill>
                  <a:srgbClr val="FFFFFF"/>
                </a:solidFill>
              </a:rPr>
              <a:t> </a:t>
            </a:r>
            <a:r>
              <a:rPr sz="1700" b="0" i="0" dirty="0" err="1">
                <a:solidFill>
                  <a:srgbClr val="FFFFFF"/>
                </a:solidFill>
              </a:rPr>
              <a:t>системи</a:t>
            </a:r>
            <a:endParaRPr sz="1700" b="0" i="0" dirty="0">
              <a:solidFill>
                <a:srgbClr val="FFFFFF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440000" y="2196000"/>
            <a:ext cx="93600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 dirty="0" err="1">
                <a:solidFill>
                  <a:srgbClr val="FFFFFF"/>
                </a:solidFill>
              </a:rPr>
              <a:t>Запустити</a:t>
            </a:r>
            <a:r>
              <a:rPr sz="1700" b="0" i="0" dirty="0">
                <a:solidFill>
                  <a:srgbClr val="FFFFFF"/>
                </a:solidFill>
              </a:rPr>
              <a:t> </a:t>
            </a:r>
            <a:r>
              <a:rPr sz="1700" b="0" i="0" dirty="0" err="1">
                <a:solidFill>
                  <a:srgbClr val="FFFFFF"/>
                </a:solidFill>
              </a:rPr>
              <a:t>тестовий</a:t>
            </a:r>
            <a:r>
              <a:rPr sz="1700" b="0" i="0" dirty="0">
                <a:solidFill>
                  <a:srgbClr val="FFFFFF"/>
                </a:solidFill>
              </a:rPr>
              <a:t> </a:t>
            </a:r>
            <a:r>
              <a:rPr sz="1700" b="0" i="0" dirty="0" err="1">
                <a:solidFill>
                  <a:srgbClr val="FFFFFF"/>
                </a:solidFill>
              </a:rPr>
              <a:t>екземпляр</a:t>
            </a:r>
            <a:r>
              <a:rPr sz="1700" b="0" i="0" dirty="0">
                <a:solidFill>
                  <a:srgbClr val="FFFFFF"/>
                </a:solidFill>
              </a:rPr>
              <a:t> </a:t>
            </a:r>
            <a:r>
              <a:rPr sz="1700" b="0" i="0" dirty="0" err="1">
                <a:solidFill>
                  <a:srgbClr val="FFFFFF"/>
                </a:solidFill>
              </a:rPr>
              <a:t>DocControlService</a:t>
            </a:r>
            <a:endParaRPr sz="1700" b="0" i="0" dirty="0">
              <a:solidFill>
                <a:srgbClr val="FFFFFF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20000" y="2951999"/>
            <a:ext cx="1080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 err="1">
                <a:solidFill>
                  <a:srgbClr val="00B0F0"/>
                </a:solidFill>
              </a:rPr>
              <a:t>Дяку</a:t>
            </a:r>
            <a:r>
              <a:rPr lang="uk-UA" sz="2000" b="1" i="0" dirty="0">
                <a:solidFill>
                  <a:srgbClr val="00B0F0"/>
                </a:solidFill>
              </a:rPr>
              <a:t>ю</a:t>
            </a:r>
            <a:r>
              <a:rPr sz="2000" b="1" i="0" dirty="0">
                <a:solidFill>
                  <a:srgbClr val="00B0F0"/>
                </a:solidFill>
              </a:rPr>
              <a:t> </a:t>
            </a:r>
            <a:r>
              <a:rPr sz="2000" b="1" i="0" dirty="0" err="1">
                <a:solidFill>
                  <a:srgbClr val="00B0F0"/>
                </a:solidFill>
              </a:rPr>
              <a:t>за</a:t>
            </a:r>
            <a:r>
              <a:rPr sz="2000" b="1" i="0" dirty="0">
                <a:solidFill>
                  <a:srgbClr val="00B0F0"/>
                </a:solidFill>
              </a:rPr>
              <a:t> </a:t>
            </a:r>
            <a:r>
              <a:rPr sz="2000" b="1" i="0" dirty="0" err="1">
                <a:solidFill>
                  <a:srgbClr val="00B0F0"/>
                </a:solidFill>
              </a:rPr>
              <a:t>увагу</a:t>
            </a:r>
            <a:r>
              <a:rPr sz="2000" b="1" i="0" dirty="0">
                <a:solidFill>
                  <a:srgbClr val="00B0F0"/>
                </a:solidFill>
              </a:rPr>
              <a:t>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302</Words>
  <Application>Microsoft Office PowerPoint</Application>
  <PresentationFormat>Довільний</PresentationFormat>
  <Paragraphs>82</Paragraphs>
  <Slides>9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Презентація PowerPoint</dc:title>
  <dc:subject/>
  <dc:creator/>
  <cp:keywords/>
  <dc:description>generated using python-pptx</dc:description>
  <cp:lastModifiedBy>Константин Троцький</cp:lastModifiedBy>
  <cp:revision>3</cp:revision>
  <dcterms:created xsi:type="dcterms:W3CDTF">2013-01-27T09:14:16Z</dcterms:created>
  <dcterms:modified xsi:type="dcterms:W3CDTF">2026-03-22T12:07:10Z</dcterms:modified>
  <cp:category/>
</cp:coreProperties>
</file>